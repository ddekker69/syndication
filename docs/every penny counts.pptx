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2" r:id="rId6"/>
    <p:sldId id="261" r:id="rId7"/>
    <p:sldId id="259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35" autoAdjust="0"/>
  </p:normalViewPr>
  <p:slideViewPr>
    <p:cSldViewPr snapToGrid="0">
      <p:cViewPr varScale="1">
        <p:scale>
          <a:sx n="72" d="100"/>
          <a:sy n="72" d="100"/>
        </p:scale>
        <p:origin x="1109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EE902-1FBB-4375-A563-1A05DFAE30E9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90AE1-4907-4F03-872B-FFBEF6BFF9E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7987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90AE1-4907-4F03-872B-FFBEF6BFF9E2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5006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A0E7-39E6-A3F7-7132-E2B37B6E1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B7C2D-68B8-A1CB-2451-8F2CD3D73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9D021-1B46-8088-2BD5-6E5F9141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073E8-74E2-F5FF-D884-9752A467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F5E2C-048D-458B-6345-BE1E7CDE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6272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C2E1A-636B-84FB-10CF-6EA0A34B4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3EEE4-77EA-B81D-B99E-D484CBBA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E8DF2-F633-9508-5FF4-432A5ECF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A2F87-449E-415B-D552-D2F82EBE0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400B3-C6A0-5EDB-C085-7C029D97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145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B0CF-D7BF-F1A0-087C-00E09D66D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78CCF-49EC-0E31-73E4-577A2047C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14481-89CC-BA49-39CC-87009BD1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DFD40-FB38-DC03-6896-9ECFE7C1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5058A-072D-9358-CC95-982ACEF5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621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FD3E-5AE2-04E3-9560-92C1281D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61A8B-D71E-A39C-281E-E036B41FD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C6B7B-14FE-3BCD-B479-576C0893F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9626-F74D-1C0D-2A90-5A25993C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C8971-F427-9BBB-A6C8-2ACC488F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795E7-50BC-3447-2CBD-53D36844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690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C2B4-8895-3295-3E5A-BEE273E9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14B9-6D0C-AE43-9E4E-C769A94CA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E7491-612A-15A1-C2BB-58861985C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289403-37E9-2C98-7B23-C427917D9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425C1-10F6-CB88-640F-06CEC98B4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3230A8-6FE3-7ED6-73B5-B1850809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B38AC-7E77-8C79-D7FE-C36825ACF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7E2333-D20C-C9FC-BF76-F56BD80A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6558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1F0A-7BDD-1619-89FF-E707D4E36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BC097-AB17-CC59-CEF0-7FD5F409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5DEAF-308B-7EE1-A922-06483E81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1ED3C-C953-A9D2-F635-041B36158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830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371C8-2EE1-D617-9D7F-27536606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DF9EE-96E2-7DFA-82F4-A124217B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BDF9B-E766-46C9-E24C-07B3727D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857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23D9-F2E3-B18C-A8F0-A7E01936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9DF5-F4D2-0A33-1403-7F8F03EF0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F6E9D-0D2B-4B6B-1BA8-30845A631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9DEED-4C80-8810-F4D8-D457CE98A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A6FFE-831E-6120-B0B0-A81AF10A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E9A74-4024-D98E-5B53-C4041BB2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087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5AAB-54BE-E583-F687-67C68CE8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9EF3D-9F0B-045B-C950-BA09EC80E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55953-BEF0-9F1F-A4A0-0778E9EBB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060AE-F831-EA71-CCE3-B926722D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DA126-3E98-1AAC-876A-C526C4120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415EB-E34A-0A12-1105-A4492DF7C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895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07ED-B844-F093-DE11-B545E49C1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6D802-F28C-657C-F9B2-311BE4DCC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E26EC-D138-0D50-BA8A-12F4D491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97E8D-BB72-DC4B-AF66-978B54995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BA426-7D14-CB75-D009-5DFA6082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837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84582-F4ED-DFC9-4DA8-52832F189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57F2E-E22F-4A7C-B7AE-D6DC09C14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96A52-3B8C-B48A-43B8-D5AD552C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483D5-0B56-3C3B-F6CE-F66B86CD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2A8B2-F408-61B1-916A-67305671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10555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7" descr="Data Points Digital background">
            <a:extLst>
              <a:ext uri="{FF2B5EF4-FFF2-40B4-BE49-F238E27FC236}">
                <a16:creationId xmlns:a16="http://schemas.microsoft.com/office/drawing/2014/main" id="{222CABE7-82F3-F14D-D8F7-24E9F28B77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"/>
          <a:stretch/>
        </p:blipFill>
        <p:spPr>
          <a:xfrm>
            <a:off x="0" y="-11"/>
            <a:ext cx="12276000" cy="726496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22A7D-06C7-2D76-E08F-4C0E92C4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890" y="365125"/>
            <a:ext cx="97559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34FCA-9BDB-B1E8-59CC-5A2359693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7890" y="1825625"/>
            <a:ext cx="97559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896A2-DC3A-B558-CC13-0977CEFF9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7B50-A8BF-4402-87CB-E035D88AE93C}" type="datetimeFigureOut">
              <a:rPr lang="en-NL" smtClean="0"/>
              <a:t>30/11/2023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DE21E-1413-140A-8360-BBB3E3624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C5661-80FF-C953-18BD-D41BFBD19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FC41B-0F15-4B7F-9E88-D3A53BA2C046}" type="slidenum">
              <a:rPr lang="en-NL" smtClean="0"/>
              <a:t>‹#›</a:t>
            </a:fld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23273B-500C-AB61-F3AE-E0539912F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37"/>
          <a:stretch/>
        </p:blipFill>
        <p:spPr>
          <a:xfrm>
            <a:off x="363143" y="2281600"/>
            <a:ext cx="950113" cy="502123"/>
          </a:xfrm>
          <a:prstGeom prst="rect">
            <a:avLst/>
          </a:prstGeom>
        </p:spPr>
      </p:pic>
      <p:pic>
        <p:nvPicPr>
          <p:cNvPr id="9" name="Picture 2" descr="A guide to understanding and using our brand">
            <a:extLst>
              <a:ext uri="{FF2B5EF4-FFF2-40B4-BE49-F238E27FC236}">
                <a16:creationId xmlns:a16="http://schemas.microsoft.com/office/drawing/2014/main" id="{A8C7D7F0-43C9-1EE3-9C33-F860923065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43" y="2783723"/>
            <a:ext cx="950113" cy="2840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B11158-D892-2137-CD1C-0835ECA51B7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3143" y="1883448"/>
            <a:ext cx="950113" cy="475057"/>
          </a:xfrm>
          <a:prstGeom prst="rect">
            <a:avLst/>
          </a:prstGeom>
        </p:spPr>
      </p:pic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85469810-4161-34BF-0E79-895FEC7EB5F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43" y="732354"/>
            <a:ext cx="950113" cy="950113"/>
          </a:xfrm>
          <a:prstGeom prst="rect">
            <a:avLst/>
          </a:prstGeom>
        </p:spPr>
      </p:pic>
      <p:pic>
        <p:nvPicPr>
          <p:cNvPr id="14" name="Picture 13" descr="Icon&#10;&#10;Description automatically generated with medium confidence">
            <a:extLst>
              <a:ext uri="{FF2B5EF4-FFF2-40B4-BE49-F238E27FC236}">
                <a16:creationId xmlns:a16="http://schemas.microsoft.com/office/drawing/2014/main" id="{CAE8F975-D6E6-0F21-C625-04E67C34AFF2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43" y="365125"/>
            <a:ext cx="950113" cy="29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1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65EA-8E67-0ED2-1657-F52042608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Every penny counts, but not equally: Accelerators and bottlenecks in investor ecosystems</a:t>
            </a:r>
            <a:endParaRPr lang="en-NL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394FB-1752-A75F-5380-671A5B7773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David Dekker, </a:t>
            </a:r>
            <a:r>
              <a:rPr lang="en-US" dirty="0" err="1"/>
              <a:t>Folker</a:t>
            </a:r>
            <a:r>
              <a:rPr lang="en-US" dirty="0"/>
              <a:t> Pieterse, Stefan </a:t>
            </a:r>
            <a:r>
              <a:rPr lang="en-US" dirty="0" err="1"/>
              <a:t>Köppl</a:t>
            </a:r>
            <a:r>
              <a:rPr lang="en-US" dirty="0"/>
              <a:t>, Victor Rosenberg, Dimitris </a:t>
            </a:r>
            <a:r>
              <a:rPr lang="en-US" dirty="0" err="1"/>
              <a:t>Christopoulos</a:t>
            </a:r>
            <a:endParaRPr lang="en-US" dirty="0"/>
          </a:p>
          <a:p>
            <a:r>
              <a:rPr lang="en-US" dirty="0"/>
              <a:t>Heriot-Watt University, Edinburgh, U.K.</a:t>
            </a:r>
          </a:p>
          <a:p>
            <a:r>
              <a:rPr lang="en-US" dirty="0"/>
              <a:t>Free University, Amsterdam, The Netherlands</a:t>
            </a:r>
          </a:p>
          <a:p>
            <a:r>
              <a:rPr lang="en-US" dirty="0"/>
              <a:t>April 2023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647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8F5C-F686-0F0D-6C36-D11C959E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ECEB2-DB45-BF36-8523-02B94673B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 innovation as source of income inequality and social mobility (Aghion, et al. 2021, ch.5, p.82)</a:t>
            </a:r>
          </a:p>
          <a:p>
            <a:pPr lvl="1"/>
            <a:r>
              <a:rPr lang="en-US" dirty="0"/>
              <a:t>Not related to Gini coefficient, but to 1%’s income share</a:t>
            </a:r>
          </a:p>
          <a:p>
            <a:pPr lvl="1"/>
            <a:r>
              <a:rPr lang="en-US" dirty="0"/>
              <a:t>Increases social mobility through creative destruction</a:t>
            </a:r>
          </a:p>
          <a:p>
            <a:pPr lvl="1"/>
            <a:r>
              <a:rPr lang="en-US" dirty="0"/>
              <a:t>Stimulates productivity growth</a:t>
            </a:r>
          </a:p>
          <a:p>
            <a:r>
              <a:rPr lang="en-US" dirty="0"/>
              <a:t>Financial risks in green innovations (Pitchbook, white paper; </a:t>
            </a:r>
            <a:r>
              <a:rPr lang="en-US"/>
              <a:t>The Economist)</a:t>
            </a:r>
            <a:endParaRPr lang="en-US" dirty="0"/>
          </a:p>
          <a:p>
            <a:r>
              <a:rPr lang="en-US" dirty="0"/>
              <a:t>Incentives to minimize risks and maximize yield may ‘bias’ the direction of innovation through investors’ syndication.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irection is a function of </a:t>
            </a:r>
            <a:r>
              <a:rPr lang="en-US" b="1" dirty="0"/>
              <a:t>R</a:t>
            </a:r>
            <a:r>
              <a:rPr lang="en-US" dirty="0"/>
              <a:t>isk and expected </a:t>
            </a:r>
            <a:r>
              <a:rPr lang="en-US" b="1" dirty="0"/>
              <a:t>Y</a:t>
            </a:r>
            <a:r>
              <a:rPr lang="en-US" dirty="0"/>
              <a:t>ield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478532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5E51-618A-89BC-AFFD-327744D9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F22EB-3733-5C60-09A7-B1382F914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effect does the endogenous development of a syndication network have on the success of early-stage companies?</a:t>
            </a:r>
          </a:p>
          <a:p>
            <a:r>
              <a:rPr lang="en-US" dirty="0"/>
              <a:t>What direction will investments take?</a:t>
            </a:r>
          </a:p>
          <a:p>
            <a:r>
              <a:rPr lang="en-US" dirty="0"/>
              <a:t>What does this imply for industrial decarbonation?</a:t>
            </a:r>
          </a:p>
          <a:p>
            <a:endParaRPr lang="en-US" dirty="0"/>
          </a:p>
          <a:p>
            <a:r>
              <a:rPr lang="en-US" dirty="0"/>
              <a:t>The case of early-stage hydrogen companies.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70105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7F83-D01D-141E-363E-4714B8B4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Syndication structure of investors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842F9-5E8A-52C9-915C-80C49415C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045" y="1825625"/>
            <a:ext cx="77573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Structures of Trust, Risk and Reputation</a:t>
            </a:r>
          </a:p>
          <a:p>
            <a:pPr lvl="1"/>
            <a:r>
              <a:rPr lang="en-US" sz="2000" dirty="0"/>
              <a:t>Definition of trust: </a:t>
            </a:r>
            <a:r>
              <a:rPr lang="en-US" sz="2000" i="1" dirty="0"/>
              <a:t>“the willingness of a party to be vulnerable to the actions of another party based on the expectation that the other will perform a particular action important to the trustor, irrespective of the ability to monitor or control that other party.” </a:t>
            </a:r>
            <a:r>
              <a:rPr lang="en-US" sz="2000" dirty="0"/>
              <a:t>(Mayer et al. 1995)</a:t>
            </a:r>
          </a:p>
          <a:p>
            <a:pPr lvl="1"/>
            <a:r>
              <a:rPr lang="en-US" sz="2000" dirty="0"/>
              <a:t>Syndication signals </a:t>
            </a:r>
            <a:r>
              <a:rPr lang="en-US" sz="2000" b="1" dirty="0"/>
              <a:t>mutual trust </a:t>
            </a:r>
            <a:r>
              <a:rPr lang="en-US" sz="2000" dirty="0"/>
              <a:t>(Deutsch 1958)</a:t>
            </a:r>
          </a:p>
          <a:p>
            <a:pPr lvl="2"/>
            <a:r>
              <a:rPr lang="en-US" sz="1800" dirty="0"/>
              <a:t>2 or more in a syndicate</a:t>
            </a:r>
          </a:p>
          <a:p>
            <a:pPr lvl="1"/>
            <a:r>
              <a:rPr lang="en-US" sz="2000" dirty="0"/>
              <a:t>Embedded syndication signals </a:t>
            </a:r>
            <a:r>
              <a:rPr lang="en-US" sz="2000" b="1" dirty="0"/>
              <a:t>enforceable norms </a:t>
            </a:r>
            <a:r>
              <a:rPr lang="en-US" sz="2000" dirty="0"/>
              <a:t>(Coleman 1988)</a:t>
            </a:r>
          </a:p>
          <a:p>
            <a:pPr lvl="2"/>
            <a:r>
              <a:rPr lang="en-US" sz="1800" dirty="0"/>
              <a:t>3 or more in a syndicate</a:t>
            </a:r>
          </a:p>
          <a:p>
            <a:pPr lvl="1"/>
            <a:r>
              <a:rPr lang="en-US" sz="2000" dirty="0"/>
              <a:t>Reputational vulnerability increases with </a:t>
            </a:r>
            <a:r>
              <a:rPr lang="en-US" sz="2000" b="1" dirty="0"/>
              <a:t>syndication closure </a:t>
            </a:r>
            <a:r>
              <a:rPr lang="en-US" sz="2000" dirty="0"/>
              <a:t>(i.e., Merry 1984; </a:t>
            </a:r>
            <a:r>
              <a:rPr lang="en-US" sz="2000" dirty="0" err="1"/>
              <a:t>Portes</a:t>
            </a:r>
            <a:r>
              <a:rPr lang="en-US" sz="2000" dirty="0"/>
              <a:t> and Sensenbrenner, 1993)</a:t>
            </a:r>
          </a:p>
          <a:p>
            <a:pPr lvl="2"/>
            <a:r>
              <a:rPr lang="en-US" sz="1800" dirty="0"/>
              <a:t>number of syndication partners that have joint investments</a:t>
            </a:r>
          </a:p>
          <a:p>
            <a:pPr lvl="1"/>
            <a:endParaRPr lang="en-US" sz="2000" b="1" dirty="0"/>
          </a:p>
          <a:p>
            <a:pPr marL="0" indent="0">
              <a:buNone/>
            </a:pPr>
            <a:endParaRPr lang="en-NL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D634F-405B-DAD3-43D3-60AB7CFB2B45}"/>
              </a:ext>
            </a:extLst>
          </p:cNvPr>
          <p:cNvSpPr txBox="1"/>
          <p:nvPr/>
        </p:nvSpPr>
        <p:spPr>
          <a:xfrm>
            <a:off x="8871994" y="3056706"/>
            <a:ext cx="3184488" cy="2585323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en-US" sz="18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people of the same trade seldom meet together, even for merriment and diversion, but the conversation ends in a conspiracy against the public, or in some contrivance to raise prices</a:t>
            </a:r>
            <a:r>
              <a:rPr lang="en-US" sz="1800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 (Adam Smith, WN [1776] 1992)</a:t>
            </a:r>
            <a:endParaRPr lang="en-NL" dirty="0"/>
          </a:p>
        </p:txBody>
      </p:sp>
      <p:sp>
        <p:nvSpPr>
          <p:cNvPr id="6" name="Content Placeholder 2" descr="Four Javan tree frogs sitting on a twig">
            <a:extLst>
              <a:ext uri="{FF2B5EF4-FFF2-40B4-BE49-F238E27FC236}">
                <a16:creationId xmlns:a16="http://schemas.microsoft.com/office/drawing/2014/main" id="{DFB18CBB-1BEF-9E4E-0F1A-87EDD03E56F8}"/>
              </a:ext>
            </a:extLst>
          </p:cNvPr>
          <p:cNvSpPr txBox="1">
            <a:spLocks/>
          </p:cNvSpPr>
          <p:nvPr/>
        </p:nvSpPr>
        <p:spPr>
          <a:xfrm>
            <a:off x="8872695" y="1420809"/>
            <a:ext cx="3184488" cy="1734374"/>
          </a:xfrm>
          <a:prstGeom prst="rect">
            <a:avLst/>
          </a:prstGeom>
          <a:blipFill dpi="0" rotWithShape="1"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reptile conspiracy!</a:t>
            </a:r>
            <a:endParaRPr lang="en-NL" sz="1600" b="1" dirty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928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22F9-33FA-6EFF-AC26-AA40434F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Hydrogen co-investments 1998-2023</a:t>
            </a: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A5CFF-4F87-76B1-6D8A-0C0B73F1C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52953" y="1408813"/>
            <a:ext cx="5512981" cy="5255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2EC2C-42A4-5FFB-2EAB-DD9F00815F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l="21054" t="25392" r="61781" b="53161"/>
          <a:stretch/>
        </p:blipFill>
        <p:spPr>
          <a:xfrm>
            <a:off x="3520589" y="1408813"/>
            <a:ext cx="2636874" cy="3140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340D2E-0A1B-4F53-7959-7AB20679EC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l="83735" t="52436" r="6525" b="40239"/>
          <a:stretch/>
        </p:blipFill>
        <p:spPr>
          <a:xfrm>
            <a:off x="3880884" y="5031869"/>
            <a:ext cx="2276579" cy="1632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4AE222-758C-C3C4-B0E9-070BDECEDE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l="16726" t="16726" r="76052" b="76052"/>
          <a:stretch/>
        </p:blipFill>
        <p:spPr>
          <a:xfrm>
            <a:off x="1597890" y="3429000"/>
            <a:ext cx="139059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5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BEC2-8A1C-E654-AEAE-59B0B8BE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7A849-42E9-CB6C-511F-A7508289F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Later stage companies will have received more total funds (+)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More investors will increase the total funding (+)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Increasing syndication closure around a company will lower the investments in this company (-)</a:t>
            </a:r>
          </a:p>
          <a:p>
            <a:pPr lvl="1"/>
            <a:r>
              <a:rPr lang="en-US" dirty="0"/>
              <a:t>Reputational precaution</a:t>
            </a:r>
          </a:p>
          <a:p>
            <a:pPr lvl="1"/>
            <a:r>
              <a:rPr lang="en-US" dirty="0"/>
              <a:t>Increased observability leads to cautious behavior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Degree, Recency, </a:t>
            </a:r>
            <a:r>
              <a:rPr lang="en-US" dirty="0" err="1"/>
              <a:t>Coinvestment</a:t>
            </a:r>
            <a:r>
              <a:rPr lang="en-US" dirty="0"/>
              <a:t> 2-steps, Syndication 2-steps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0698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50AE-BA29-F964-BACF-2BDB3FCA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F60EC3-A0A7-2EB0-4224-98641151B7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Total funds raised by company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Investment stage of company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𝐼𝑁𝑉</m:t>
                        </m:r>
                      </m:e>
                      <m:sub>
                        <m:r>
                          <a:rPr lang="en-US" sz="2800" b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Total number of investors in company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 panose="02040503050406030204" pitchFamily="18" charset="0"/>
                          </a:rPr>
                          <m:t>𝑆𝑌𝑁𝐷</m:t>
                        </m:r>
                      </m:e>
                      <m:sub>
                        <m:r>
                          <a:rPr lang="en-US" sz="2800" b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Average syndication structure of investors in company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F60EC3-A0A7-2EB0-4224-98641151B7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6F96EF5E-6EB4-3A52-E1DC-F51720914C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2508078"/>
                  </p:ext>
                </p:extLst>
              </p:nvPr>
            </p:nvGraphicFramePr>
            <p:xfrm>
              <a:off x="1688123" y="2117032"/>
              <a:ext cx="9665676" cy="5791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1486">
                      <a:extLst>
                        <a:ext uri="{9D8B030D-6E8A-4147-A177-3AD203B41FA5}">
                          <a16:colId xmlns:a16="http://schemas.microsoft.com/office/drawing/2014/main" val="1048214579"/>
                        </a:ext>
                      </a:extLst>
                    </a:gridCol>
                    <a:gridCol w="1044190">
                      <a:extLst>
                        <a:ext uri="{9D8B030D-6E8A-4147-A177-3AD203B41FA5}">
                          <a16:colId xmlns:a16="http://schemas.microsoft.com/office/drawing/2014/main" val="8754529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>
                                        <a:latin typeface="Cambria Math" panose="02040503050406030204" pitchFamily="18" charset="0"/>
                                      </a:rPr>
                                      <m:t>𝑇𝐹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32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3200" b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3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sz="320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32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>
                                        <a:latin typeface="Cambria Math" panose="02040503050406030204" pitchFamily="18" charset="0"/>
                                      </a:rPr>
                                      <m:t>𝐼𝑁𝑉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32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>
                                        <a:latin typeface="Cambria Math" panose="02040503050406030204" pitchFamily="18" charset="0"/>
                                      </a:rPr>
                                      <m:t>𝑆𝑌𝑁𝐷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32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b="0" i="1" dirty="0"/>
                            <a:t>(1)</a:t>
                          </a:r>
                          <a:endParaRPr lang="en-NL" sz="2400" b="0" i="1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01009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6F96EF5E-6EB4-3A52-E1DC-F51720914C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2508078"/>
                  </p:ext>
                </p:extLst>
              </p:nvPr>
            </p:nvGraphicFramePr>
            <p:xfrm>
              <a:off x="1688123" y="2117032"/>
              <a:ext cx="9665676" cy="5791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1486">
                      <a:extLst>
                        <a:ext uri="{9D8B030D-6E8A-4147-A177-3AD203B41FA5}">
                          <a16:colId xmlns:a16="http://schemas.microsoft.com/office/drawing/2014/main" val="1048214579"/>
                        </a:ext>
                      </a:extLst>
                    </a:gridCol>
                    <a:gridCol w="1044190">
                      <a:extLst>
                        <a:ext uri="{9D8B030D-6E8A-4147-A177-3AD203B41FA5}">
                          <a16:colId xmlns:a16="http://schemas.microsoft.com/office/drawing/2014/main" val="875452968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8333" r="-12076" b="-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b="0" i="1" dirty="0"/>
                            <a:t>(1)</a:t>
                          </a:r>
                          <a:endParaRPr lang="en-NL" sz="2400" b="0" i="1" dirty="0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601009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3915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E364E-B745-4E97-D890-D42CFF53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376B54-B4E0-477A-B067-3A22AC9C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188929" y="691620"/>
            <a:ext cx="7060318" cy="605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53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2146B7-DC08-F347-72FA-6C4C57F5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Relational Event Model</a:t>
            </a:r>
            <a:endParaRPr lang="nl-NL" dirty="0"/>
          </a:p>
        </p:txBody>
      </p:sp>
      <p:graphicFrame>
        <p:nvGraphicFramePr>
          <p:cNvPr id="6" name="Tabel 6">
            <a:extLst>
              <a:ext uri="{FF2B5EF4-FFF2-40B4-BE49-F238E27FC236}">
                <a16:creationId xmlns:a16="http://schemas.microsoft.com/office/drawing/2014/main" id="{6D58FB66-B86F-76A7-F42C-E5E2EAA56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56529"/>
              </p:ext>
            </p:extLst>
          </p:nvPr>
        </p:nvGraphicFramePr>
        <p:xfrm>
          <a:off x="1730797" y="1392977"/>
          <a:ext cx="8128002" cy="33197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878417">
                  <a:extLst>
                    <a:ext uri="{9D8B030D-6E8A-4147-A177-3AD203B41FA5}">
                      <a16:colId xmlns:a16="http://schemas.microsoft.com/office/drawing/2014/main" val="1437639638"/>
                    </a:ext>
                  </a:extLst>
                </a:gridCol>
                <a:gridCol w="1049917">
                  <a:extLst>
                    <a:ext uri="{9D8B030D-6E8A-4147-A177-3AD203B41FA5}">
                      <a16:colId xmlns:a16="http://schemas.microsoft.com/office/drawing/2014/main" val="3872376985"/>
                    </a:ext>
                  </a:extLst>
                </a:gridCol>
                <a:gridCol w="1049917">
                  <a:extLst>
                    <a:ext uri="{9D8B030D-6E8A-4147-A177-3AD203B41FA5}">
                      <a16:colId xmlns:a16="http://schemas.microsoft.com/office/drawing/2014/main" val="3564408495"/>
                    </a:ext>
                  </a:extLst>
                </a:gridCol>
                <a:gridCol w="1049917">
                  <a:extLst>
                    <a:ext uri="{9D8B030D-6E8A-4147-A177-3AD203B41FA5}">
                      <a16:colId xmlns:a16="http://schemas.microsoft.com/office/drawing/2014/main" val="2966608108"/>
                    </a:ext>
                  </a:extLst>
                </a:gridCol>
                <a:gridCol w="1049917">
                  <a:extLst>
                    <a:ext uri="{9D8B030D-6E8A-4147-A177-3AD203B41FA5}">
                      <a16:colId xmlns:a16="http://schemas.microsoft.com/office/drawing/2014/main" val="3687115693"/>
                    </a:ext>
                  </a:extLst>
                </a:gridCol>
                <a:gridCol w="1049917">
                  <a:extLst>
                    <a:ext uri="{9D8B030D-6E8A-4147-A177-3AD203B41FA5}">
                      <a16:colId xmlns:a16="http://schemas.microsoft.com/office/drawing/2014/main" val="3429344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Network endogenous variables</a:t>
                      </a:r>
                      <a:endParaRPr lang="en-NL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Coef. Est.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s.e.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 value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(&gt;|z|)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81776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Degree (# of syndications)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27,844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2,399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11,605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&lt; 2.2e-16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***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20205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Recency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-8,201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0,948</a:t>
                      </a:r>
                      <a:endParaRPr lang="en-NL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-8,652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&lt; 2.2e-16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***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3925808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Referal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1,309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0,186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7,022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2,18E-09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***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46545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Clustering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-0,448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0,208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-2,155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L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0,031</a:t>
                      </a:r>
                      <a:endParaRPr lang="en-NL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*</a:t>
                      </a:r>
                      <a:endParaRPr lang="en-NL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extLst>
                  <a:ext uri="{0D108BD9-81ED-4DB2-BD59-A6C34878D82A}">
                    <a16:rowId xmlns:a16="http://schemas.microsoft.com/office/drawing/2014/main" val="1757654887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Signif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. codes: 0 ‘***’ 0.001 ‘**’ 0.01 ‘*’ 0.05 ‘.’ 0.1 ‘ ’ 1  </a:t>
                      </a:r>
                    </a:p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Chi-square: 714.8939 on 4 degrees of freedom, </a:t>
                      </a:r>
                    </a:p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asymptotic p-value 0 </a:t>
                      </a:r>
                    </a:p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AIC: 1709.597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325628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27A0AB78-97A0-0849-D42C-BDFD5419FBCA}"/>
              </a:ext>
            </a:extLst>
          </p:cNvPr>
          <p:cNvGrpSpPr/>
          <p:nvPr/>
        </p:nvGrpSpPr>
        <p:grpSpPr>
          <a:xfrm>
            <a:off x="503517" y="4904343"/>
            <a:ext cx="882502" cy="1121360"/>
            <a:chOff x="1674628" y="4784651"/>
            <a:chExt cx="882502" cy="112136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F79E9C-A8B6-A9AF-0A6E-0A40FCF8830A}"/>
                </a:ext>
              </a:extLst>
            </p:cNvPr>
            <p:cNvSpPr/>
            <p:nvPr/>
          </p:nvSpPr>
          <p:spPr>
            <a:xfrm>
              <a:off x="1674628" y="5092995"/>
              <a:ext cx="505046" cy="4678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B9FB0ED-1D90-6E99-791D-625EE5C7BE88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2179674" y="5326912"/>
              <a:ext cx="37745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2CC764-0BC0-8658-C2F0-5AC1B88FC1AB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1927151" y="4784651"/>
              <a:ext cx="0" cy="30834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667FD4-1F92-017C-1D01-03E841DBEFE2}"/>
                </a:ext>
              </a:extLst>
            </p:cNvPr>
            <p:cNvCxnSpPr>
              <a:cxnSpLocks/>
              <a:stCxn id="7" idx="7"/>
            </p:cNvCxnSpPr>
            <p:nvPr/>
          </p:nvCxnSpPr>
          <p:spPr>
            <a:xfrm flipV="1">
              <a:off x="2105712" y="4922874"/>
              <a:ext cx="185604" cy="23863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9345603-068F-3635-C539-13959804D89D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2105712" y="5492315"/>
              <a:ext cx="281297" cy="24829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907BF1-B01E-A8EB-B5B9-96B24FADBB27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>
              <a:off x="1927151" y="5560828"/>
              <a:ext cx="0" cy="34518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99F147-5489-AE4F-A83E-1AE4F63EAE7D}"/>
              </a:ext>
            </a:extLst>
          </p:cNvPr>
          <p:cNvGrpSpPr/>
          <p:nvPr/>
        </p:nvGrpSpPr>
        <p:grpSpPr>
          <a:xfrm>
            <a:off x="1872458" y="4885923"/>
            <a:ext cx="882502" cy="1121360"/>
            <a:chOff x="1674628" y="4784651"/>
            <a:chExt cx="882502" cy="1121360"/>
          </a:xfrm>
          <a:solidFill>
            <a:schemeClr val="accent3"/>
          </a:solidFill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FDD5BB5-88EC-2B40-2446-C8DC88BEE00F}"/>
                </a:ext>
              </a:extLst>
            </p:cNvPr>
            <p:cNvSpPr/>
            <p:nvPr/>
          </p:nvSpPr>
          <p:spPr>
            <a:xfrm>
              <a:off x="1674628" y="5092995"/>
              <a:ext cx="505046" cy="467833"/>
            </a:xfrm>
            <a:prstGeom prst="ellipse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6281D22-8F8C-5927-1E61-9FD126D296FA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2179674" y="5326912"/>
              <a:ext cx="377456" cy="0"/>
            </a:xfrm>
            <a:prstGeom prst="line">
              <a:avLst/>
            </a:prstGeom>
            <a:grpFill/>
            <a:ln w="38100">
              <a:solidFill>
                <a:schemeClr val="accent3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CD61BE1-08C5-26AF-913F-F256E978D714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V="1">
              <a:off x="1927151" y="4784651"/>
              <a:ext cx="0" cy="308344"/>
            </a:xfrm>
            <a:prstGeom prst="line">
              <a:avLst/>
            </a:prstGeom>
            <a:grpFill/>
            <a:ln w="38100">
              <a:solidFill>
                <a:schemeClr val="accent3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093EA0-1CAF-D118-2553-835522805F73}"/>
                </a:ext>
              </a:extLst>
            </p:cNvPr>
            <p:cNvCxnSpPr>
              <a:cxnSpLocks/>
              <a:stCxn id="35" idx="7"/>
            </p:cNvCxnSpPr>
            <p:nvPr/>
          </p:nvCxnSpPr>
          <p:spPr>
            <a:xfrm flipV="1">
              <a:off x="2105712" y="4922874"/>
              <a:ext cx="185604" cy="238634"/>
            </a:xfrm>
            <a:prstGeom prst="line">
              <a:avLst/>
            </a:prstGeom>
            <a:grpFill/>
            <a:ln w="38100">
              <a:solidFill>
                <a:schemeClr val="accent3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3344C4F-F501-AC4D-5417-6C7FFEE9AF10}"/>
                </a:ext>
              </a:extLst>
            </p:cNvPr>
            <p:cNvCxnSpPr>
              <a:cxnSpLocks/>
              <a:stCxn id="35" idx="5"/>
            </p:cNvCxnSpPr>
            <p:nvPr/>
          </p:nvCxnSpPr>
          <p:spPr>
            <a:xfrm>
              <a:off x="2105712" y="5492315"/>
              <a:ext cx="281297" cy="248294"/>
            </a:xfrm>
            <a:prstGeom prst="line">
              <a:avLst/>
            </a:prstGeom>
            <a:grpFill/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1BC0906-28CC-7EED-2F43-FB6E0130E8A8}"/>
                </a:ext>
              </a:extLst>
            </p:cNvPr>
            <p:cNvCxnSpPr>
              <a:cxnSpLocks/>
              <a:stCxn id="35" idx="4"/>
            </p:cNvCxnSpPr>
            <p:nvPr/>
          </p:nvCxnSpPr>
          <p:spPr>
            <a:xfrm>
              <a:off x="1927151" y="5560828"/>
              <a:ext cx="0" cy="345183"/>
            </a:xfrm>
            <a:prstGeom prst="line">
              <a:avLst/>
            </a:prstGeom>
            <a:grpFill/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5BCB29-5558-1E5B-9C71-6A9B5642DA54}"/>
              </a:ext>
            </a:extLst>
          </p:cNvPr>
          <p:cNvGrpSpPr/>
          <p:nvPr/>
        </p:nvGrpSpPr>
        <p:grpSpPr>
          <a:xfrm>
            <a:off x="1057767" y="5853111"/>
            <a:ext cx="1047307" cy="914400"/>
            <a:chOff x="2179674" y="5749969"/>
            <a:chExt cx="1047307" cy="914400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F35B370-AF97-9110-FD87-049096F00E3C}"/>
                </a:ext>
              </a:extLst>
            </p:cNvPr>
            <p:cNvCxnSpPr/>
            <p:nvPr/>
          </p:nvCxnSpPr>
          <p:spPr>
            <a:xfrm>
              <a:off x="2179674" y="6251944"/>
              <a:ext cx="1047307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F0F23E1-851A-F1A5-D508-C7C52E0D4F58}"/>
                </a:ext>
              </a:extLst>
            </p:cNvPr>
            <p:cNvSpPr/>
            <p:nvPr/>
          </p:nvSpPr>
          <p:spPr>
            <a:xfrm>
              <a:off x="2179675" y="5749969"/>
              <a:ext cx="818706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</a:t>
              </a:r>
              <a:endParaRPr lang="en-NL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20579DD-BC30-AFE9-A2AA-668088712941}"/>
              </a:ext>
            </a:extLst>
          </p:cNvPr>
          <p:cNvGrpSpPr/>
          <p:nvPr/>
        </p:nvGrpSpPr>
        <p:grpSpPr>
          <a:xfrm>
            <a:off x="3410219" y="4922650"/>
            <a:ext cx="2426936" cy="1515739"/>
            <a:chOff x="5677840" y="4859078"/>
            <a:chExt cx="2426936" cy="1515739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C5B5481-D49F-D209-C578-9D2098DF9EC4}"/>
                </a:ext>
              </a:extLst>
            </p:cNvPr>
            <p:cNvSpPr/>
            <p:nvPr/>
          </p:nvSpPr>
          <p:spPr>
            <a:xfrm>
              <a:off x="5677840" y="5382545"/>
              <a:ext cx="505046" cy="4678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F2DEFAE-D14B-CC23-5A9B-3434738BE147}"/>
                </a:ext>
              </a:extLst>
            </p:cNvPr>
            <p:cNvSpPr/>
            <p:nvPr/>
          </p:nvSpPr>
          <p:spPr>
            <a:xfrm>
              <a:off x="7599730" y="5405905"/>
              <a:ext cx="505046" cy="46783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8FC134B-D0F6-B3DF-728C-F6C8AFC0E993}"/>
                </a:ext>
              </a:extLst>
            </p:cNvPr>
            <p:cNvSpPr/>
            <p:nvPr/>
          </p:nvSpPr>
          <p:spPr>
            <a:xfrm>
              <a:off x="6634716" y="4859078"/>
              <a:ext cx="505046" cy="467833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E3454A8-7A38-CC7A-7463-0604BA5DEB21}"/>
                </a:ext>
              </a:extLst>
            </p:cNvPr>
            <p:cNvCxnSpPr>
              <a:cxnSpLocks/>
              <a:stCxn id="73" idx="7"/>
              <a:endCxn id="75" idx="2"/>
            </p:cNvCxnSpPr>
            <p:nvPr/>
          </p:nvCxnSpPr>
          <p:spPr>
            <a:xfrm flipV="1">
              <a:off x="6108924" y="5092995"/>
              <a:ext cx="525792" cy="35806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8D3A228-10CB-2D4D-529A-CE0D992CFBA5}"/>
                </a:ext>
              </a:extLst>
            </p:cNvPr>
            <p:cNvCxnSpPr>
              <a:cxnSpLocks/>
              <a:stCxn id="75" idx="6"/>
              <a:endCxn id="74" idx="1"/>
            </p:cNvCxnSpPr>
            <p:nvPr/>
          </p:nvCxnSpPr>
          <p:spPr>
            <a:xfrm>
              <a:off x="7139762" y="5092995"/>
              <a:ext cx="533930" cy="381423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FA8EEB3-A867-C983-62C4-BD9F0ADA6D2D}"/>
                </a:ext>
              </a:extLst>
            </p:cNvPr>
            <p:cNvCxnSpPr>
              <a:stCxn id="73" idx="6"/>
              <a:endCxn id="74" idx="2"/>
            </p:cNvCxnSpPr>
            <p:nvPr/>
          </p:nvCxnSpPr>
          <p:spPr>
            <a:xfrm>
              <a:off x="6182886" y="5616462"/>
              <a:ext cx="1416844" cy="23360"/>
            </a:xfrm>
            <a:prstGeom prst="line">
              <a:avLst/>
            </a:prstGeom>
            <a:ln w="38100">
              <a:solidFill>
                <a:schemeClr val="accent3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6CEC9D4-D06C-E847-798D-99F404CA86C4}"/>
                </a:ext>
              </a:extLst>
            </p:cNvPr>
            <p:cNvSpPr/>
            <p:nvPr/>
          </p:nvSpPr>
          <p:spPr>
            <a:xfrm>
              <a:off x="6371820" y="5460417"/>
              <a:ext cx="1121707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 + 1</a:t>
              </a:r>
              <a:endParaRPr lang="en-NL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05" name="Oval 104">
            <a:extLst>
              <a:ext uri="{FF2B5EF4-FFF2-40B4-BE49-F238E27FC236}">
                <a16:creationId xmlns:a16="http://schemas.microsoft.com/office/drawing/2014/main" id="{FFE59148-432F-5210-658B-48CA0F88E26E}"/>
              </a:ext>
            </a:extLst>
          </p:cNvPr>
          <p:cNvSpPr/>
          <p:nvPr/>
        </p:nvSpPr>
        <p:spPr>
          <a:xfrm>
            <a:off x="6936677" y="4790229"/>
            <a:ext cx="505046" cy="467833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A78DDD45-54C0-4651-37A2-9524936FF697}"/>
              </a:ext>
            </a:extLst>
          </p:cNvPr>
          <p:cNvSpPr/>
          <p:nvPr/>
        </p:nvSpPr>
        <p:spPr>
          <a:xfrm>
            <a:off x="7139664" y="4886672"/>
            <a:ext cx="505046" cy="467833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F92A91B-4A16-8706-C728-0EDC849C701E}"/>
              </a:ext>
            </a:extLst>
          </p:cNvPr>
          <p:cNvSpPr/>
          <p:nvPr/>
        </p:nvSpPr>
        <p:spPr>
          <a:xfrm>
            <a:off x="7338690" y="4984786"/>
            <a:ext cx="505046" cy="467833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B0B5E73-2713-2125-126B-1BDFDC3E91A8}"/>
              </a:ext>
            </a:extLst>
          </p:cNvPr>
          <p:cNvGrpSpPr/>
          <p:nvPr/>
        </p:nvGrpSpPr>
        <p:grpSpPr>
          <a:xfrm>
            <a:off x="6644024" y="5058515"/>
            <a:ext cx="2426936" cy="1515739"/>
            <a:chOff x="5677840" y="4859078"/>
            <a:chExt cx="2426936" cy="1515739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AF5CA0D-DF71-4391-801D-FAB95FB464CA}"/>
                </a:ext>
              </a:extLst>
            </p:cNvPr>
            <p:cNvSpPr/>
            <p:nvPr/>
          </p:nvSpPr>
          <p:spPr>
            <a:xfrm>
              <a:off x="5677840" y="5382545"/>
              <a:ext cx="505046" cy="4678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1324F4B-A206-0B26-5419-C0441F2D2EFC}"/>
                </a:ext>
              </a:extLst>
            </p:cNvPr>
            <p:cNvSpPr/>
            <p:nvPr/>
          </p:nvSpPr>
          <p:spPr>
            <a:xfrm>
              <a:off x="7599730" y="5405905"/>
              <a:ext cx="505046" cy="46783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59F2197-B6D4-B51F-387F-9B754D6AEBF7}"/>
                </a:ext>
              </a:extLst>
            </p:cNvPr>
            <p:cNvSpPr/>
            <p:nvPr/>
          </p:nvSpPr>
          <p:spPr>
            <a:xfrm>
              <a:off x="6634716" y="4859078"/>
              <a:ext cx="505046" cy="467833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5931C1B-D18D-1FA4-1408-65442D4D115B}"/>
                </a:ext>
              </a:extLst>
            </p:cNvPr>
            <p:cNvCxnSpPr>
              <a:cxnSpLocks/>
              <a:stCxn id="98" idx="7"/>
              <a:endCxn id="100" idx="2"/>
            </p:cNvCxnSpPr>
            <p:nvPr/>
          </p:nvCxnSpPr>
          <p:spPr>
            <a:xfrm flipV="1">
              <a:off x="6108924" y="5092995"/>
              <a:ext cx="525792" cy="35806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EAFBD972-447C-F7CB-8D95-4FFDFF9F630B}"/>
                </a:ext>
              </a:extLst>
            </p:cNvPr>
            <p:cNvCxnSpPr>
              <a:cxnSpLocks/>
              <a:stCxn id="100" idx="6"/>
              <a:endCxn id="99" idx="1"/>
            </p:cNvCxnSpPr>
            <p:nvPr/>
          </p:nvCxnSpPr>
          <p:spPr>
            <a:xfrm>
              <a:off x="7139762" y="5092995"/>
              <a:ext cx="533930" cy="381423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7BD55BF-1EDC-99C4-0AE2-C2E44E285DB8}"/>
                </a:ext>
              </a:extLst>
            </p:cNvPr>
            <p:cNvCxnSpPr>
              <a:stCxn id="98" idx="6"/>
              <a:endCxn id="99" idx="2"/>
            </p:cNvCxnSpPr>
            <p:nvPr/>
          </p:nvCxnSpPr>
          <p:spPr>
            <a:xfrm>
              <a:off x="6182886" y="5616462"/>
              <a:ext cx="1416844" cy="23360"/>
            </a:xfrm>
            <a:prstGeom prst="line">
              <a:avLst/>
            </a:prstGeom>
            <a:ln w="38100">
              <a:solidFill>
                <a:schemeClr val="accent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55BA17E-E931-ED5E-0644-5D8706B24632}"/>
                </a:ext>
              </a:extLst>
            </p:cNvPr>
            <p:cNvSpPr/>
            <p:nvPr/>
          </p:nvSpPr>
          <p:spPr>
            <a:xfrm>
              <a:off x="6371820" y="5460417"/>
              <a:ext cx="1121707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</a:t>
              </a:r>
              <a:endParaRPr lang="en-NL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24562D1-5E26-5256-FA99-7D2186758AF6}"/>
              </a:ext>
            </a:extLst>
          </p:cNvPr>
          <p:cNvGrpSpPr/>
          <p:nvPr/>
        </p:nvGrpSpPr>
        <p:grpSpPr>
          <a:xfrm>
            <a:off x="9374983" y="5543833"/>
            <a:ext cx="2426936" cy="992272"/>
            <a:chOff x="5677840" y="5382545"/>
            <a:chExt cx="2426936" cy="992272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839139F-3868-5260-C3EC-08EC4BC5220B}"/>
                </a:ext>
              </a:extLst>
            </p:cNvPr>
            <p:cNvSpPr/>
            <p:nvPr/>
          </p:nvSpPr>
          <p:spPr>
            <a:xfrm>
              <a:off x="5677840" y="5382545"/>
              <a:ext cx="505046" cy="4678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8C0FAAC-70DB-1DD5-B782-80ACC7924EF9}"/>
                </a:ext>
              </a:extLst>
            </p:cNvPr>
            <p:cNvSpPr/>
            <p:nvPr/>
          </p:nvSpPr>
          <p:spPr>
            <a:xfrm>
              <a:off x="7599730" y="5405905"/>
              <a:ext cx="505046" cy="467833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F7F0E4DE-2766-838D-05FE-42438E3B3FBF}"/>
                </a:ext>
              </a:extLst>
            </p:cNvPr>
            <p:cNvCxnSpPr>
              <a:stCxn id="112" idx="6"/>
              <a:endCxn id="113" idx="2"/>
            </p:cNvCxnSpPr>
            <p:nvPr/>
          </p:nvCxnSpPr>
          <p:spPr>
            <a:xfrm>
              <a:off x="6182886" y="5616462"/>
              <a:ext cx="1416844" cy="23360"/>
            </a:xfrm>
            <a:prstGeom prst="line">
              <a:avLst/>
            </a:prstGeom>
            <a:ln w="38100">
              <a:solidFill>
                <a:schemeClr val="accent3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DC43593-8656-297A-A59D-C0AFCB663696}"/>
                </a:ext>
              </a:extLst>
            </p:cNvPr>
            <p:cNvSpPr/>
            <p:nvPr/>
          </p:nvSpPr>
          <p:spPr>
            <a:xfrm>
              <a:off x="6371820" y="5460417"/>
              <a:ext cx="1121707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t+1</a:t>
              </a:r>
              <a:endParaRPr lang="en-NL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5B09E94E-370E-F54C-A0B5-4AF30FD229CE}"/>
              </a:ext>
            </a:extLst>
          </p:cNvPr>
          <p:cNvSpPr txBox="1"/>
          <p:nvPr/>
        </p:nvSpPr>
        <p:spPr>
          <a:xfrm>
            <a:off x="1151558" y="4671028"/>
            <a:ext cx="85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Degree</a:t>
            </a:r>
            <a:endParaRPr lang="en-NL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9C8E5EA-392C-9814-6D30-948FFEB62EE9}"/>
              </a:ext>
            </a:extLst>
          </p:cNvPr>
          <p:cNvSpPr txBox="1"/>
          <p:nvPr/>
        </p:nvSpPr>
        <p:spPr>
          <a:xfrm>
            <a:off x="4279383" y="6263082"/>
            <a:ext cx="838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Referal</a:t>
            </a:r>
            <a:endParaRPr lang="en-NL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3D89465-0652-F073-E126-20534A9FE6D6}"/>
              </a:ext>
            </a:extLst>
          </p:cNvPr>
          <p:cNvSpPr txBox="1"/>
          <p:nvPr/>
        </p:nvSpPr>
        <p:spPr>
          <a:xfrm>
            <a:off x="8835137" y="6263082"/>
            <a:ext cx="1123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7551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 animBg="1"/>
      <p:bldP spid="107" grpId="0" animBg="1"/>
      <p:bldP spid="119" grpId="0"/>
      <p:bldP spid="120" grpId="0"/>
      <p:bldP spid="1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1732-D057-F4EC-84E3-F9E69641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700D-1DF4-668B-C173-1DB1B8114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Bottlenecks</a:t>
            </a:r>
          </a:p>
          <a:p>
            <a:pPr lvl="1"/>
            <a:r>
              <a:rPr lang="en-US" dirty="0"/>
              <a:t>Investors that team up too much (maximal difference  could be as large as 69%)</a:t>
            </a:r>
          </a:p>
          <a:p>
            <a:pPr lvl="1"/>
            <a:r>
              <a:rPr lang="en-US" dirty="0"/>
              <a:t>More investors increase funding, but at a decreasing rate (elasticity &lt;1)</a:t>
            </a:r>
          </a:p>
          <a:p>
            <a:pPr lvl="1"/>
            <a:r>
              <a:rPr lang="en-US" dirty="0"/>
              <a:t>Lack of diversity of investors</a:t>
            </a:r>
          </a:p>
          <a:p>
            <a:endParaRPr lang="en-US" dirty="0"/>
          </a:p>
          <a:p>
            <a:r>
              <a:rPr lang="en-US" dirty="0"/>
              <a:t>Accelerators</a:t>
            </a:r>
          </a:p>
          <a:p>
            <a:pPr lvl="1"/>
            <a:r>
              <a:rPr lang="en-US" dirty="0"/>
              <a:t>high risk, capital intensive:</a:t>
            </a:r>
          </a:p>
          <a:p>
            <a:pPr marL="457200" lvl="1" indent="0">
              <a:buNone/>
            </a:pPr>
            <a:r>
              <a:rPr lang="en-US" dirty="0"/>
              <a:t>single large investors that are less sensitive for reputation effects, because they can lead the syndication with many smaller investors</a:t>
            </a:r>
          </a:p>
          <a:p>
            <a:pPr lvl="1"/>
            <a:r>
              <a:rPr lang="en-US" dirty="0"/>
              <a:t>Portfolio investments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980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10998</TotalTime>
  <Words>618</Words>
  <Application>Microsoft Office PowerPoint</Application>
  <PresentationFormat>Widescreen</PresentationFormat>
  <Paragraphs>102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Lucida Console</vt:lpstr>
      <vt:lpstr>Office Theme</vt:lpstr>
      <vt:lpstr>Every penny counts, but not equally: Accelerators and bottlenecks in investor ecosystems</vt:lpstr>
      <vt:lpstr>Introduction</vt:lpstr>
      <vt:lpstr>Research Question</vt:lpstr>
      <vt:lpstr>Syndication structure of investors</vt:lpstr>
      <vt:lpstr>Hydrogen co-investments 1998-2023</vt:lpstr>
      <vt:lpstr>Hypotheses</vt:lpstr>
      <vt:lpstr>Model I</vt:lpstr>
      <vt:lpstr>Results</vt:lpstr>
      <vt:lpstr>Relational Event Model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penny counts, but not equally: Accelerators and bottlenecks in investor ecosystems</dc:title>
  <dc:creator>Dekker, David</dc:creator>
  <cp:lastModifiedBy>David Dekker</cp:lastModifiedBy>
  <cp:revision>6</cp:revision>
  <dcterms:created xsi:type="dcterms:W3CDTF">2023-04-07T09:31:22Z</dcterms:created>
  <dcterms:modified xsi:type="dcterms:W3CDTF">2023-11-30T09:33:49Z</dcterms:modified>
</cp:coreProperties>
</file>